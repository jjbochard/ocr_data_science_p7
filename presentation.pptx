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9"/>
  </p:notesMasterIdLst>
  <p:sldIdLst>
    <p:sldId id="256" r:id="rId2"/>
    <p:sldId id="265" r:id="rId3"/>
    <p:sldId id="281" r:id="rId4"/>
    <p:sldId id="280" r:id="rId5"/>
    <p:sldId id="282" r:id="rId6"/>
    <p:sldId id="283" r:id="rId7"/>
    <p:sldId id="284" r:id="rId8"/>
    <p:sldId id="285" r:id="rId9"/>
    <p:sldId id="295" r:id="rId10"/>
    <p:sldId id="296" r:id="rId11"/>
    <p:sldId id="297" r:id="rId12"/>
    <p:sldId id="298" r:id="rId13"/>
    <p:sldId id="299" r:id="rId14"/>
    <p:sldId id="286" r:id="rId15"/>
    <p:sldId id="301" r:id="rId16"/>
    <p:sldId id="302" r:id="rId17"/>
    <p:sldId id="287" r:id="rId18"/>
    <p:sldId id="292" r:id="rId19"/>
    <p:sldId id="293" r:id="rId20"/>
    <p:sldId id="303" r:id="rId21"/>
    <p:sldId id="304" r:id="rId22"/>
    <p:sldId id="305" r:id="rId23"/>
    <p:sldId id="288" r:id="rId24"/>
    <p:sldId id="289" r:id="rId25"/>
    <p:sldId id="300" r:id="rId26"/>
    <p:sldId id="290" r:id="rId27"/>
    <p:sldId id="279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Style moyen 2 - Accentuation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266"/>
    <p:restoredTop sz="79592"/>
  </p:normalViewPr>
  <p:slideViewPr>
    <p:cSldViewPr snapToGrid="0">
      <p:cViewPr varScale="1">
        <p:scale>
          <a:sx n="100" d="100"/>
          <a:sy n="100" d="100"/>
        </p:scale>
        <p:origin x="220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F1F4F6-23C9-CB49-960F-DF5623D2CF36}" type="datetimeFigureOut">
              <a:rPr lang="fr-FR" smtClean="0"/>
              <a:t>16/06/2025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F97F9F-58DA-474E-A716-383B8DDE83E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05417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F97F9F-58DA-474E-A716-383B8DDE83E4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952900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F97F9F-58DA-474E-A716-383B8DDE83E4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115356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9683E-63C8-C035-C148-2E243A93A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45555B8-107E-B12C-A69A-C4275A2B70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9047978-FA7E-5E75-711F-FB9EC0A304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2643D8D-C482-ED84-E813-F0340310D4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F97F9F-58DA-474E-A716-383B8DDE83E4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66115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98A43-B2B0-A2CE-C4D3-BF2FDFABE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3441D75-2236-B0D1-0359-10CBCB39BA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3E1288F-0BEA-8653-94A2-44DF9F2BFC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00862F4-41B8-79E2-3E3E-149C6F6552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F97F9F-58DA-474E-A716-383B8DDE83E4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94760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8AE2E-C1C3-0A07-FB5D-2B9A9F3F1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0343288-1B3D-4A99-D0A7-F39D61FCD7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64E2532-1E9F-8A2B-A85D-585F335523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CA2B959-5FAC-841E-7839-DD7D3598E5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F97F9F-58DA-474E-A716-383B8DDE83E4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429285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BB043-42D6-FA0D-2B48-64B435CF2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C0C0612-CD0F-ABE8-4698-C8E116DDD2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08EC141-44A3-F007-A8A2-0C765DC2F4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FADAAAA-E7B7-078C-BAAB-C3EB780164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F97F9F-58DA-474E-A716-383B8DDE83E4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287467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34C549-4F1B-C532-B4AC-50FC599EE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1EE8FA3-17E6-460D-8F0C-1874B246AA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FE0EFAB-1CBC-0803-DAC8-428EC8CAA7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FE08EFC-261A-7EEA-9B15-62AA7A1935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F97F9F-58DA-474E-A716-383B8DDE83E4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356952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438A4-FF8F-2FC4-9E2A-78FE6250A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3FB8ABD-ED2C-831A-89BF-C9A8E29E04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94260AE-D7D7-01B9-6924-253218DEBE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D35A348-54A6-2011-3281-CD01E7326B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F97F9F-58DA-474E-A716-383B8DDE83E4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153723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771F3-93F1-06A6-A322-709BABBC5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D5A3332-FD7B-DDFD-3279-54296FBB03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5209E46C-40BC-05F1-8F06-FCE99BEF10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4A67CF9-C149-F79B-339F-60A96284BC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F97F9F-58DA-474E-A716-383B8DDE83E4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20084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DB7DD-CCBE-B796-D7F9-92047EA9B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F2D7BB5-6FC0-0FF6-F8BE-9C06412BA6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79AE7FB1-4491-8A49-7E62-F92F0940CF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7BFB391-E94B-EF3C-1350-8CCFCEA764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F97F9F-58DA-474E-A716-383B8DDE83E4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20198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7FBEC-EB01-91F0-C782-5C7154FE0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9824B1F-614D-B2D2-BCB8-F374FA9F37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CF6C5E3-8731-645F-EC55-40233E4ABD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F138BCD-867D-135F-C82D-4DED736412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F97F9F-58DA-474E-A716-383B8DDE83E4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92882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17514-45F1-767D-82E8-D26C72BE0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694BBE5-4170-8081-4CE8-C07F98AA4E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9F8A65F-D23D-BE4F-7130-ECBA399AFD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BF1776D-E806-C863-26C0-7FB0AF70A3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F97F9F-58DA-474E-A716-383B8DDE83E4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935345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08A5C-0009-2E03-C185-06643BFD4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B95C46B-FF31-300E-2BF3-93AA673AA0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B2AC276-30FB-EFA3-A00F-9C92937A89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762CF4F-59DB-45AA-BB22-8BBBF547D9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F97F9F-58DA-474E-A716-383B8DDE83E4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877216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C71B6-5485-CB19-50A3-09744BB31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63E4A63-D13B-A4D1-FAB9-438822266E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06AD306-DF0E-ACBB-88EF-2F16944135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F2EC130-EF37-C21D-3244-E403AADED4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F97F9F-58DA-474E-A716-383B8DDE83E4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485938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CF17B2-3A0C-5161-5167-910FD7B60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7830EAD-77CF-DE14-2D1B-110317B2DD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046F5503-FA90-4877-AE23-223FD82935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61E30E2-77D5-0422-8B14-6A1160B370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F97F9F-58DA-474E-A716-383B8DDE83E4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50952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78137-EF36-2EB2-7AA3-2AA88A4A9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88597BC-855E-F577-FC15-50D70FD77D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1A46BE9-7F0D-1169-7A96-384B0F3504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DDAC2A3-33D1-ED0E-A242-D8BD1387AF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F97F9F-58DA-474E-A716-383B8DDE83E4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477510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5577B-6E85-60BA-1A56-E39AF9BC4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D2E0A3C-3865-BBFC-912E-2FC712AA00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DA79388-B629-0289-7091-518F43B52C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E4CB499-BF1F-A3C0-F573-BE7BD6EFD9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F97F9F-58DA-474E-A716-383B8DDE83E4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9260218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C978C-7621-60E1-B294-91D9E40C9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BCA9B0B-3964-0CFA-74E9-5FF9A42164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A775FA9-87E6-3F2A-05ED-59A208553C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A5D75A1-4AE2-7C4C-5D45-0FDDBE1A6E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F97F9F-58DA-474E-A716-383B8DDE83E4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728025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A163B-B842-F376-E1A3-B4FC8E007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6141120F-5E8E-A354-47B4-229FD1A395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02623690-9882-1103-ECFA-B2E2B66BF1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F9B98A2-FD36-C175-6539-9AF4CE1B2E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F97F9F-58DA-474E-A716-383B8DDE83E4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4938692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AEC28E-E0AB-117F-AFFA-EC81472E8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F374E8E6-87FB-1F6C-4A6A-69DDF2F250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69D6A1F-4DA2-985F-2785-0D2A87D02B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206EB07-D779-864D-8EE7-FADABEE88C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F97F9F-58DA-474E-A716-383B8DDE83E4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960553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E40F2-5B25-5E7A-7C92-2BD0B858C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CB25B68-54F1-EB61-5A7E-56992011A9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7693B6CC-A291-405E-23FD-745F0DF4B5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EC403F6-9BFB-9BA6-5D72-6C880EDE30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F97F9F-58DA-474E-A716-383B8DDE83E4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3342851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E00634-922D-5B2B-641F-521C7AFFF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69F29106-16ED-6079-781B-E3134E2D05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F6048BA-B70F-9048-9BE7-0CF40C0016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7872F13-46FA-5016-34D7-BBF8B417E6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F97F9F-58DA-474E-A716-383B8DDE83E4}" type="slidenum">
              <a:rPr lang="fr-FR" smtClean="0"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9426804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D58C5-477B-B23E-1706-3351BB3F5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416AA38-C0DC-D4FF-E0FF-A941B5A5E8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074C753F-C2B2-7CCA-A774-9BEC4499C1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1FEF70A-F08E-CAB3-5276-B25AA7D01F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F97F9F-58DA-474E-A716-383B8DDE83E4}" type="slidenum">
              <a:rPr lang="fr-FR" smtClean="0"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551897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6B947-5467-30CA-1942-E98D9855B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0F01265-BFFB-8341-957F-E0A5635703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299CEE1-7F45-681F-DD00-DC43F4D43C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1F244A6-1FC7-E500-5712-FC38CC433F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F97F9F-58DA-474E-A716-383B8DDE83E4}" type="slidenum">
              <a:rPr lang="fr-FR" smtClean="0"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5954040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F136F-0FEB-ABF3-E255-5242E83C8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6D8394D-6A5A-44C1-B5CD-4543BCD33B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0DA8433-3ADE-69DE-3564-F0C57D01EF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22F5E72-80B4-3E31-B848-2C4643A9C9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F97F9F-58DA-474E-A716-383B8DDE83E4}" type="slidenum">
              <a:rPr lang="fr-FR" smtClean="0"/>
              <a:t>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2261974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18F05-86C6-5FC2-932E-32D480102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010B7BD-7C41-7CDC-CF23-7BE7B65B1D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898BF2E1-05C8-4F7C-FAEE-E7F5DF6ADB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2F6632E-445C-E5BC-0A69-0809AF235D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F97F9F-58DA-474E-A716-383B8DDE83E4}" type="slidenum">
              <a:rPr lang="fr-FR" smtClean="0"/>
              <a:t>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3296866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F97F9F-58DA-474E-A716-383B8DDE83E4}" type="slidenum">
              <a:rPr lang="fr-FR" smtClean="0"/>
              <a:t>27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05224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9F009A29-4C8D-9B45-B394-4EDF6EFA6225}" type="datetime1">
              <a:rPr lang="fr-FR" smtClean="0"/>
              <a:t>16/06/2025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BA7E3-DEF5-C04F-96E5-AE7994690BEC}" type="datetime1">
              <a:rPr lang="fr-FR" smtClean="0"/>
              <a:t>16/06/2025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11124-B4D5-EB4D-B031-C8F2E99AC2DE}" type="datetime1">
              <a:rPr lang="fr-FR" smtClean="0"/>
              <a:t>16/06/2025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DE366-5441-C54C-B7CF-1F45B853C2F7}" type="datetime1">
              <a:rPr lang="fr-FR" smtClean="0"/>
              <a:t>16/06/2025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D0DF7-2109-5744-95E7-91D7C7C7DC77}" type="datetime1">
              <a:rPr lang="fr-FR" smtClean="0"/>
              <a:t>16/06/2025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0669C-BD5C-2A47-B51B-CB7081353411}" type="datetime1">
              <a:rPr lang="fr-FR" smtClean="0"/>
              <a:t>16/06/2025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AE333-0E26-CA4C-9B65-216817A5CD04}" type="datetime1">
              <a:rPr lang="fr-FR" smtClean="0"/>
              <a:t>16/06/2025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BA718-85D5-874E-BB42-69404FD0B0EA}" type="datetime1">
              <a:rPr lang="fr-FR" smtClean="0"/>
              <a:t>16/06/2025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74AD6-8F6B-2144-8FDC-8EA16B29024E}" type="datetime1">
              <a:rPr lang="fr-FR" smtClean="0"/>
              <a:t>16/06/2025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7311D-6EB3-EF46-84FC-2CA969CC40FB}" type="datetime1">
              <a:rPr lang="fr-FR" smtClean="0"/>
              <a:t>16/06/2025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24029-6BB4-4D45-8FC2-3E7777F261A8}" type="datetime1">
              <a:rPr lang="fr-FR" smtClean="0"/>
              <a:t>16/06/2025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C937F-35F0-1B42-B730-AFB37CE5BF56}" type="datetime1">
              <a:rPr lang="fr-FR" smtClean="0"/>
              <a:t>16/06/2025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B389F-B1EC-3943-8616-E847896A2437}" type="datetime1">
              <a:rPr lang="fr-FR" smtClean="0"/>
              <a:t>16/06/2025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8C770-4860-2142-9F81-E2DE484D4885}" type="datetime1">
              <a:rPr lang="fr-FR" smtClean="0"/>
              <a:t>16/06/2025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AA1F1-5784-414C-97D1-C79D217E5DDE}" type="datetime1">
              <a:rPr lang="fr-FR" smtClean="0"/>
              <a:t>16/06/2025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E953F-9382-3748-A957-CBB8A6EABFF9}" type="datetime1">
              <a:rPr lang="fr-FR" smtClean="0"/>
              <a:t>16/06/2025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0A400-715C-BC41-8130-176ADB0B549C}" type="datetime1">
              <a:rPr lang="fr-FR" smtClean="0"/>
              <a:t>16/06/2025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06C550-B8ED-1641-917C-329797D8DC12}" type="datetime1">
              <a:rPr lang="fr-FR" smtClean="0"/>
              <a:t>16/06/2025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16BCFEE-C01C-9BFE-3D6F-571F33F5C9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Implémenter un modèle de </a:t>
            </a:r>
            <a:r>
              <a:rPr lang="fr-FR" dirty="0" err="1"/>
              <a:t>scoring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9236D18-3450-6CDA-B719-62E61E96FBD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Parcours data </a:t>
            </a:r>
            <a:r>
              <a:rPr lang="fr-FR" dirty="0" err="1"/>
              <a:t>scientist</a:t>
            </a:r>
            <a:r>
              <a:rPr lang="fr-FR" dirty="0"/>
              <a:t> </a:t>
            </a:r>
            <a:r>
              <a:rPr lang="fr-FR" dirty="0" err="1"/>
              <a:t>Openclassrooms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5C03D95-1CDE-F038-1AF7-01740E814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2094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1AADC3E-6A53-3C86-FB0C-95FFE67CF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459523"/>
          </a:xfrm>
        </p:spPr>
        <p:txBody>
          <a:bodyPr/>
          <a:lstStyle/>
          <a:p>
            <a:pPr algn="ctr"/>
            <a:r>
              <a:rPr lang="fr-FR" dirty="0"/>
              <a:t>Contexte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A6E85F9-61A3-E6C1-B4BB-7593631F9F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459523"/>
            <a:ext cx="9905999" cy="4331678"/>
          </a:xfrm>
        </p:spPr>
        <p:txBody>
          <a:bodyPr bIns="46800">
            <a:normAutofit/>
          </a:bodyPr>
          <a:lstStyle/>
          <a:p>
            <a:r>
              <a:rPr lang="fr-FR" dirty="0"/>
              <a:t>Prêt à dépenser</a:t>
            </a:r>
          </a:p>
          <a:p>
            <a:endParaRPr lang="fr-FR" dirty="0"/>
          </a:p>
          <a:p>
            <a:r>
              <a:rPr lang="fr-FR" dirty="0"/>
              <a:t>Mission : développer un modèle de </a:t>
            </a:r>
            <a:r>
              <a:rPr lang="fr-FR" dirty="0" err="1"/>
              <a:t>scoring</a:t>
            </a:r>
            <a:endParaRPr lang="fr-FR" dirty="0"/>
          </a:p>
          <a:p>
            <a:endParaRPr lang="fr-FR" dirty="0"/>
          </a:p>
          <a:p>
            <a:r>
              <a:rPr lang="fr-FR" dirty="0"/>
              <a:t>But : prédire la probabilité de faillite d’un client de façon automatique</a:t>
            </a:r>
          </a:p>
          <a:p>
            <a:endParaRPr lang="fr-FR" dirty="0"/>
          </a:p>
          <a:p>
            <a:r>
              <a:rPr lang="fr-FR" dirty="0"/>
              <a:t>Moyen : algorithme de classification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F9FD8C0-BF12-C23E-7CE5-78EB59C09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62175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63DFF-3F9A-807B-96DC-2ACF3EF7C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A4AFFE-4219-15DD-FFB9-ED18C6E83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459523"/>
          </a:xfrm>
        </p:spPr>
        <p:txBody>
          <a:bodyPr/>
          <a:lstStyle/>
          <a:p>
            <a:pPr algn="ctr"/>
            <a:r>
              <a:rPr lang="fr-FR" dirty="0"/>
              <a:t>Autres Missions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C5876CA-74EA-F82D-8E55-20D4C435B8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459523"/>
            <a:ext cx="9905999" cy="4331678"/>
          </a:xfrm>
        </p:spPr>
        <p:txBody>
          <a:bodyPr>
            <a:normAutofit/>
          </a:bodyPr>
          <a:lstStyle/>
          <a:p>
            <a:endParaRPr lang="fr-FR" dirty="0"/>
          </a:p>
          <a:p>
            <a:r>
              <a:rPr lang="fr-FR" dirty="0"/>
              <a:t>Contribution des </a:t>
            </a:r>
            <a:r>
              <a:rPr lang="fr-FR" dirty="0" err="1"/>
              <a:t>features</a:t>
            </a:r>
            <a:r>
              <a:rPr lang="fr-FR" dirty="0"/>
              <a:t> du modèle (globale et locale)</a:t>
            </a:r>
          </a:p>
          <a:p>
            <a:endParaRPr lang="fr-FR" dirty="0"/>
          </a:p>
          <a:p>
            <a:r>
              <a:rPr lang="fr-FR" dirty="0"/>
              <a:t>Mise en production du modèle via API avec interface</a:t>
            </a:r>
          </a:p>
          <a:p>
            <a:endParaRPr lang="fr-FR" dirty="0"/>
          </a:p>
          <a:p>
            <a:r>
              <a:rPr lang="fr-FR" dirty="0"/>
              <a:t>Approche MLOPS avec analyse data drift</a:t>
            </a:r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3D6C024-2109-E0E2-A76E-53895C37C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15682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E22D02-8633-C12C-2195-20B717E11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1BBCCD7-04CA-5406-7606-C830DCCC1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459523"/>
          </a:xfrm>
        </p:spPr>
        <p:txBody>
          <a:bodyPr/>
          <a:lstStyle/>
          <a:p>
            <a:pPr algn="ctr"/>
            <a:r>
              <a:rPr lang="fr-FR" dirty="0"/>
              <a:t>Jeu de données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C1E4652-51FB-CA1D-25FD-7D176AA1DF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459522"/>
            <a:ext cx="9905999" cy="5192737"/>
          </a:xfrm>
        </p:spPr>
        <p:txBody>
          <a:bodyPr>
            <a:normAutofit/>
          </a:bodyPr>
          <a:lstStyle/>
          <a:p>
            <a:r>
              <a:rPr lang="fr-FR" dirty="0"/>
              <a:t>Fichier principal contenant des informations sur des prêts.</a:t>
            </a:r>
          </a:p>
          <a:p>
            <a:endParaRPr lang="fr-FR" dirty="0"/>
          </a:p>
          <a:p>
            <a:r>
              <a:rPr lang="fr-FR" dirty="0"/>
              <a:t>+ de 300 000 prêts</a:t>
            </a:r>
          </a:p>
          <a:p>
            <a:endParaRPr lang="fr-FR" dirty="0"/>
          </a:p>
          <a:p>
            <a:r>
              <a:rPr lang="fr-FR" dirty="0"/>
              <a:t>~9% défauts de paiements</a:t>
            </a:r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702E97E-E5C5-41B8-D01A-48B942EBE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69920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F3309-8ADE-D852-8B07-39F95A7AF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45A67C6-33DC-CFBF-1C8A-B853FEC92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459523"/>
          </a:xfrm>
        </p:spPr>
        <p:txBody>
          <a:bodyPr/>
          <a:lstStyle/>
          <a:p>
            <a:pPr algn="ctr"/>
            <a:r>
              <a:rPr lang="fr-FR" dirty="0"/>
              <a:t>Jeu de données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FA6E0D9-0C94-4BC5-2462-9ED5612390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459522"/>
            <a:ext cx="9905999" cy="5192737"/>
          </a:xfrm>
        </p:spPr>
        <p:txBody>
          <a:bodyPr>
            <a:normAutofit/>
          </a:bodyPr>
          <a:lstStyle/>
          <a:p>
            <a:r>
              <a:rPr lang="fr-FR" dirty="0"/>
              <a:t>Crédits auprès d’autres institutions financières</a:t>
            </a:r>
          </a:p>
          <a:p>
            <a:endParaRPr lang="fr-FR" dirty="0"/>
          </a:p>
          <a:p>
            <a:r>
              <a:rPr lang="fr-FR" dirty="0"/>
              <a:t>Historiques mensuels de ces crédits</a:t>
            </a:r>
          </a:p>
          <a:p>
            <a:endParaRPr lang="fr-FR" dirty="0"/>
          </a:p>
          <a:p>
            <a:r>
              <a:rPr lang="fr-FR" dirty="0"/>
              <a:t>Informations anciennes demandes chez Home </a:t>
            </a:r>
            <a:r>
              <a:rPr lang="fr-FR" dirty="0" err="1"/>
              <a:t>Credit</a:t>
            </a:r>
            <a:endParaRPr lang="fr-FR" dirty="0"/>
          </a:p>
          <a:p>
            <a:endParaRPr lang="fr-FR" dirty="0"/>
          </a:p>
          <a:p>
            <a:r>
              <a:rPr lang="fr-FR" dirty="0"/>
              <a:t>Utilisation mensuelle des cartes de crédits</a:t>
            </a:r>
          </a:p>
          <a:p>
            <a:endParaRPr lang="fr-FR" dirty="0"/>
          </a:p>
          <a:p>
            <a:r>
              <a:rPr lang="fr-FR" dirty="0"/>
              <a:t>Historique des remboursements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134E42E-679E-B160-0313-9EAFDFC4C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96904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A9F4F-9BAD-7576-810E-5236E74A8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1BF16C-62A8-2C86-0530-E94B7CA08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459523"/>
          </a:xfrm>
        </p:spPr>
        <p:txBody>
          <a:bodyPr/>
          <a:lstStyle/>
          <a:p>
            <a:pPr algn="ctr"/>
            <a:r>
              <a:rPr lang="fr-FR" dirty="0" err="1"/>
              <a:t>Modèlisation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3AA0882-6461-1E51-0C33-C1D345617B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459522"/>
            <a:ext cx="9905999" cy="5192737"/>
          </a:xfrm>
        </p:spPr>
        <p:txBody>
          <a:bodyPr>
            <a:normAutofit/>
          </a:bodyPr>
          <a:lstStyle/>
          <a:p>
            <a:r>
              <a:rPr lang="fr-FR" dirty="0" err="1"/>
              <a:t>Preprocessing</a:t>
            </a:r>
            <a:r>
              <a:rPr lang="fr-FR" dirty="0"/>
              <a:t> : imputation, encodage, </a:t>
            </a:r>
            <a:r>
              <a:rPr lang="fr-FR" dirty="0" err="1"/>
              <a:t>scaling</a:t>
            </a:r>
            <a:endParaRPr lang="fr-FR" dirty="0"/>
          </a:p>
          <a:p>
            <a:endParaRPr lang="fr-FR" dirty="0"/>
          </a:p>
          <a:p>
            <a:r>
              <a:rPr lang="fr-FR" dirty="0"/>
              <a:t>Pipeline </a:t>
            </a:r>
            <a:r>
              <a:rPr lang="fr-FR" dirty="0" err="1"/>
              <a:t>scikit-learn</a:t>
            </a:r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5F00DE0-EE55-E20F-6796-FBA01F077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6</a:t>
            </a:fld>
            <a:endParaRPr lang="en-US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39DB3C56-A27B-2766-1715-1B4D8D3092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8211" y="3226719"/>
            <a:ext cx="7772400" cy="3631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5155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E4D2F9-5906-E67C-F09E-54B544177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9770721-C322-C972-10F3-B41578838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459523"/>
          </a:xfrm>
        </p:spPr>
        <p:txBody>
          <a:bodyPr/>
          <a:lstStyle/>
          <a:p>
            <a:pPr algn="ctr"/>
            <a:r>
              <a:rPr lang="fr-FR" dirty="0" err="1"/>
              <a:t>Modèlisation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6814E7B-B627-2DE2-C5B6-5AC56FD649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459522"/>
            <a:ext cx="9905999" cy="5192737"/>
          </a:xfrm>
        </p:spPr>
        <p:txBody>
          <a:bodyPr>
            <a:normAutofit/>
          </a:bodyPr>
          <a:lstStyle/>
          <a:p>
            <a:r>
              <a:rPr lang="fr-FR" dirty="0" err="1"/>
              <a:t>Preprocessing</a:t>
            </a:r>
            <a:r>
              <a:rPr lang="fr-FR" dirty="0"/>
              <a:t> : imputation, encodage, </a:t>
            </a:r>
            <a:r>
              <a:rPr lang="fr-FR" dirty="0" err="1"/>
              <a:t>scaling</a:t>
            </a:r>
            <a:endParaRPr lang="fr-FR" dirty="0"/>
          </a:p>
          <a:p>
            <a:endParaRPr lang="fr-FR" dirty="0"/>
          </a:p>
          <a:p>
            <a:r>
              <a:rPr lang="fr-FR" dirty="0"/>
              <a:t>Pipeline </a:t>
            </a:r>
            <a:r>
              <a:rPr lang="fr-FR" dirty="0" err="1"/>
              <a:t>scikit-learn</a:t>
            </a:r>
            <a:endParaRPr lang="fr-FR" dirty="0"/>
          </a:p>
          <a:p>
            <a:endParaRPr lang="fr-FR" dirty="0"/>
          </a:p>
          <a:p>
            <a:r>
              <a:rPr lang="fr-FR" dirty="0" err="1"/>
              <a:t>Regression</a:t>
            </a:r>
            <a:r>
              <a:rPr lang="fr-FR" dirty="0"/>
              <a:t> logistique, </a:t>
            </a:r>
            <a:r>
              <a:rPr lang="fr-FR" dirty="0" err="1"/>
              <a:t>Random</a:t>
            </a:r>
            <a:r>
              <a:rPr lang="fr-FR" dirty="0"/>
              <a:t> Forest, </a:t>
            </a:r>
            <a:r>
              <a:rPr lang="fr-FR" dirty="0" err="1"/>
              <a:t>LightGBM</a:t>
            </a:r>
            <a:r>
              <a:rPr lang="fr-FR" dirty="0"/>
              <a:t>, </a:t>
            </a:r>
            <a:r>
              <a:rPr lang="fr-FR" dirty="0" err="1"/>
              <a:t>XGBoost</a:t>
            </a:r>
            <a:endParaRPr lang="fr-FR" dirty="0"/>
          </a:p>
          <a:p>
            <a:endParaRPr lang="fr-FR" dirty="0"/>
          </a:p>
          <a:p>
            <a:r>
              <a:rPr lang="fr-FR" dirty="0"/>
              <a:t>Tuning </a:t>
            </a:r>
            <a:r>
              <a:rPr lang="fr-FR" dirty="0" err="1"/>
              <a:t>Optuna</a:t>
            </a:r>
            <a:endParaRPr lang="fr-FR" dirty="0"/>
          </a:p>
          <a:p>
            <a:endParaRPr lang="fr-FR" dirty="0"/>
          </a:p>
          <a:p>
            <a:r>
              <a:rPr lang="fr-FR" dirty="0"/>
              <a:t>ROC AUC, </a:t>
            </a:r>
            <a:r>
              <a:rPr lang="fr-FR" dirty="0" err="1"/>
              <a:t>Recall</a:t>
            </a:r>
            <a:r>
              <a:rPr lang="fr-FR" dirty="0"/>
              <a:t>, coût (</a:t>
            </a:r>
            <a:r>
              <a:rPr lang="fr-FR" dirty="0" err="1"/>
              <a:t>fp</a:t>
            </a:r>
            <a:r>
              <a:rPr lang="fr-FR" dirty="0"/>
              <a:t> * </a:t>
            </a:r>
            <a:r>
              <a:rPr lang="fr-FR" dirty="0" err="1"/>
              <a:t>fp_cost</a:t>
            </a:r>
            <a:r>
              <a:rPr lang="fr-FR" dirty="0"/>
              <a:t> + </a:t>
            </a:r>
            <a:r>
              <a:rPr lang="fr-FR" dirty="0" err="1"/>
              <a:t>fn</a:t>
            </a:r>
            <a:r>
              <a:rPr lang="fr-FR" dirty="0"/>
              <a:t> * </a:t>
            </a:r>
            <a:r>
              <a:rPr lang="fr-FR" dirty="0" err="1"/>
              <a:t>fn_cost</a:t>
            </a:r>
            <a:r>
              <a:rPr lang="fr-FR"/>
              <a:t>)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7A2FDA2-7F80-8718-652F-E48934E81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81139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614C1-4328-E239-F5FE-FDD202070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999EE5F-B23C-AE56-3432-822351CCE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459523"/>
          </a:xfrm>
        </p:spPr>
        <p:txBody>
          <a:bodyPr/>
          <a:lstStyle/>
          <a:p>
            <a:pPr algn="ctr"/>
            <a:r>
              <a:rPr lang="fr-FR" dirty="0"/>
              <a:t>MLOPS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89649C3-0CEC-D603-4F14-F93775FC42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459522"/>
            <a:ext cx="9905999" cy="5192737"/>
          </a:xfrm>
        </p:spPr>
        <p:txBody>
          <a:bodyPr>
            <a:normAutofit/>
          </a:bodyPr>
          <a:lstStyle/>
          <a:p>
            <a:r>
              <a:rPr lang="fr-FR" dirty="0"/>
              <a:t>Déploiement rapide</a:t>
            </a:r>
          </a:p>
          <a:p>
            <a:endParaRPr lang="fr-FR" dirty="0"/>
          </a:p>
          <a:p>
            <a:r>
              <a:rPr lang="fr-FR" dirty="0"/>
              <a:t>Suivi</a:t>
            </a:r>
          </a:p>
          <a:p>
            <a:endParaRPr lang="fr-FR" dirty="0"/>
          </a:p>
          <a:p>
            <a:r>
              <a:rPr lang="fr-FR" dirty="0"/>
              <a:t>Meilleure collaboration</a:t>
            </a:r>
          </a:p>
          <a:p>
            <a:endParaRPr lang="fr-FR" dirty="0"/>
          </a:p>
          <a:p>
            <a:r>
              <a:rPr lang="fr-FR" dirty="0"/>
              <a:t>Gestions versions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8039060-CD9F-E93A-1ECD-35CA123BA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74489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63DB9-879C-DF46-508B-666BC4F6E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1387A08-E805-5CA3-837E-69DC7CBEE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459523"/>
          </a:xfrm>
        </p:spPr>
        <p:txBody>
          <a:bodyPr/>
          <a:lstStyle/>
          <a:p>
            <a:pPr algn="ctr"/>
            <a:endParaRPr lang="fr-FR" dirty="0"/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618AE64C-4477-5CD4-4E0E-25BCD948CE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-8046" y="50800"/>
            <a:ext cx="12200046" cy="6756400"/>
          </a:xfr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D01B87B-D3BA-C16F-3204-403A6B05F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07036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8662A8-31FB-9EEC-6529-1745E49C4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C6B6A3-2C2F-3C55-D954-8FB1C9982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459523"/>
          </a:xfrm>
        </p:spPr>
        <p:txBody>
          <a:bodyPr/>
          <a:lstStyle/>
          <a:p>
            <a:pPr algn="ctr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B68C04D-4227-6476-A586-2A02C19C4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10</a:t>
            </a:fld>
            <a:endParaRPr lang="en-US" dirty="0"/>
          </a:p>
        </p:txBody>
      </p:sp>
      <p:pic>
        <p:nvPicPr>
          <p:cNvPr id="8" name="Espace réservé du contenu 7">
            <a:extLst>
              <a:ext uri="{FF2B5EF4-FFF2-40B4-BE49-F238E27FC236}">
                <a16:creationId xmlns:a16="http://schemas.microsoft.com/office/drawing/2014/main" id="{0318FF74-9022-41FF-5280-5E89C2088E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-8046" y="50800"/>
            <a:ext cx="12200046" cy="6756400"/>
          </a:xfrm>
        </p:spPr>
      </p:pic>
    </p:spTree>
    <p:extLst>
      <p:ext uri="{BB962C8B-B14F-4D97-AF65-F5344CB8AC3E}">
        <p14:creationId xmlns:p14="http://schemas.microsoft.com/office/powerpoint/2010/main" val="32871291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4D19DB-36E8-5539-094F-23688AE2F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712EE0-B4CB-E99A-F831-473B52370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459523"/>
          </a:xfrm>
        </p:spPr>
        <p:txBody>
          <a:bodyPr/>
          <a:lstStyle/>
          <a:p>
            <a:pPr algn="ctr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F27989B-7D6E-EE63-E00A-520BF5F03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11</a:t>
            </a:fld>
            <a:endParaRPr lang="en-US" dirty="0"/>
          </a:p>
        </p:txBody>
      </p:sp>
      <p:pic>
        <p:nvPicPr>
          <p:cNvPr id="12" name="Espace réservé du contenu 11">
            <a:extLst>
              <a:ext uri="{FF2B5EF4-FFF2-40B4-BE49-F238E27FC236}">
                <a16:creationId xmlns:a16="http://schemas.microsoft.com/office/drawing/2014/main" id="{45418D91-9966-C39F-1F57-17C72AFB2E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53028"/>
            <a:ext cx="12192000" cy="6751944"/>
          </a:xfrm>
        </p:spPr>
      </p:pic>
    </p:spTree>
    <p:extLst>
      <p:ext uri="{BB962C8B-B14F-4D97-AF65-F5344CB8AC3E}">
        <p14:creationId xmlns:p14="http://schemas.microsoft.com/office/powerpoint/2010/main" val="23970321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ED45E-4313-B47E-6DFE-BA52D2DB1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87EB46A-63CF-130C-398B-FE19D2C46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459523"/>
          </a:xfrm>
        </p:spPr>
        <p:txBody>
          <a:bodyPr/>
          <a:lstStyle/>
          <a:p>
            <a:pPr algn="ctr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4C8FF0F-C882-4512-D5A2-CEAC8A8F2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12</a:t>
            </a:fld>
            <a:endParaRPr lang="en-US" dirty="0"/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7C7F60BD-FB91-FF54-DD17-498661FA29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-14784" y="45720"/>
            <a:ext cx="12206784" cy="6766560"/>
          </a:xfrm>
        </p:spPr>
      </p:pic>
    </p:spTree>
    <p:extLst>
      <p:ext uri="{BB962C8B-B14F-4D97-AF65-F5344CB8AC3E}">
        <p14:creationId xmlns:p14="http://schemas.microsoft.com/office/powerpoint/2010/main" val="4052201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64B0B-F6E7-6F3E-459D-C677C1C2C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F7F168F-3DC3-C528-00A9-762F0A471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459523"/>
          </a:xfrm>
        </p:spPr>
        <p:txBody>
          <a:bodyPr/>
          <a:lstStyle/>
          <a:p>
            <a:pPr algn="ctr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9945F02-B78D-91AF-CF0C-E046BCAA6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13</a:t>
            </a:fld>
            <a:endParaRPr lang="en-US" dirty="0"/>
          </a:p>
        </p:txBody>
      </p:sp>
      <p:pic>
        <p:nvPicPr>
          <p:cNvPr id="8" name="Espace réservé du contenu 7">
            <a:extLst>
              <a:ext uri="{FF2B5EF4-FFF2-40B4-BE49-F238E27FC236}">
                <a16:creationId xmlns:a16="http://schemas.microsoft.com/office/drawing/2014/main" id="{E7994068-A52D-3AB9-9B29-244CA2B93A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-8046" y="50800"/>
            <a:ext cx="12200046" cy="6756400"/>
          </a:xfrm>
        </p:spPr>
      </p:pic>
    </p:spTree>
    <p:extLst>
      <p:ext uri="{BB962C8B-B14F-4D97-AF65-F5344CB8AC3E}">
        <p14:creationId xmlns:p14="http://schemas.microsoft.com/office/powerpoint/2010/main" val="4667848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681D1-61FA-82A9-ABBE-D04B25989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6240126-E6A7-DC7A-B15E-3C38CEBC1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459523"/>
          </a:xfrm>
        </p:spPr>
        <p:txBody>
          <a:bodyPr/>
          <a:lstStyle/>
          <a:p>
            <a:pPr algn="ctr"/>
            <a:r>
              <a:rPr lang="fr-FR" dirty="0"/>
              <a:t>Résultats </a:t>
            </a:r>
            <a:r>
              <a:rPr lang="fr-FR" dirty="0" err="1"/>
              <a:t>modèlisation</a:t>
            </a:r>
            <a:endParaRPr lang="fr-FR" dirty="0"/>
          </a:p>
        </p:txBody>
      </p:sp>
      <p:graphicFrame>
        <p:nvGraphicFramePr>
          <p:cNvPr id="5" name="Espace réservé du contenu 4">
            <a:extLst>
              <a:ext uri="{FF2B5EF4-FFF2-40B4-BE49-F238E27FC236}">
                <a16:creationId xmlns:a16="http://schemas.microsoft.com/office/drawing/2014/main" id="{64FDCD8D-55A8-BF5A-2306-BEB9D371AF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33009680"/>
              </p:ext>
            </p:extLst>
          </p:nvPr>
        </p:nvGraphicFramePr>
        <p:xfrm>
          <a:off x="625652" y="1045362"/>
          <a:ext cx="10937520" cy="4767275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822920">
                  <a:extLst>
                    <a:ext uri="{9D8B030D-6E8A-4147-A177-3AD203B41FA5}">
                      <a16:colId xmlns:a16="http://schemas.microsoft.com/office/drawing/2014/main" val="3313997651"/>
                    </a:ext>
                  </a:extLst>
                </a:gridCol>
                <a:gridCol w="1822920">
                  <a:extLst>
                    <a:ext uri="{9D8B030D-6E8A-4147-A177-3AD203B41FA5}">
                      <a16:colId xmlns:a16="http://schemas.microsoft.com/office/drawing/2014/main" val="2358897465"/>
                    </a:ext>
                  </a:extLst>
                </a:gridCol>
                <a:gridCol w="1822920">
                  <a:extLst>
                    <a:ext uri="{9D8B030D-6E8A-4147-A177-3AD203B41FA5}">
                      <a16:colId xmlns:a16="http://schemas.microsoft.com/office/drawing/2014/main" val="3910086793"/>
                    </a:ext>
                  </a:extLst>
                </a:gridCol>
                <a:gridCol w="1822920">
                  <a:extLst>
                    <a:ext uri="{9D8B030D-6E8A-4147-A177-3AD203B41FA5}">
                      <a16:colId xmlns:a16="http://schemas.microsoft.com/office/drawing/2014/main" val="755485514"/>
                    </a:ext>
                  </a:extLst>
                </a:gridCol>
                <a:gridCol w="1822920">
                  <a:extLst>
                    <a:ext uri="{9D8B030D-6E8A-4147-A177-3AD203B41FA5}">
                      <a16:colId xmlns:a16="http://schemas.microsoft.com/office/drawing/2014/main" val="525198606"/>
                    </a:ext>
                  </a:extLst>
                </a:gridCol>
                <a:gridCol w="1822920">
                  <a:extLst>
                    <a:ext uri="{9D8B030D-6E8A-4147-A177-3AD203B41FA5}">
                      <a16:colId xmlns:a16="http://schemas.microsoft.com/office/drawing/2014/main" val="4216190272"/>
                    </a:ext>
                  </a:extLst>
                </a:gridCol>
              </a:tblGrid>
              <a:tr h="953455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Modèle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Fichier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ROC AUC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err="1"/>
                        <a:t>Recall</a:t>
                      </a:r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Coût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Durée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8521772"/>
                  </a:ext>
                </a:extLst>
              </a:tr>
              <a:tr h="953455">
                <a:tc>
                  <a:txBody>
                    <a:bodyPr/>
                    <a:lstStyle/>
                    <a:p>
                      <a:pPr algn="ctr"/>
                      <a:r>
                        <a:rPr lang="fr-FR" dirty="0" err="1"/>
                        <a:t>Logistic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Regression</a:t>
                      </a:r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train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Test : 0.683</a:t>
                      </a:r>
                    </a:p>
                    <a:p>
                      <a:pPr algn="ctr"/>
                      <a:r>
                        <a:rPr lang="fr-FR" dirty="0"/>
                        <a:t>Train : 0.682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Test : 0.638</a:t>
                      </a:r>
                    </a:p>
                    <a:p>
                      <a:pPr algn="ctr"/>
                      <a:r>
                        <a:rPr lang="fr-FR" dirty="0"/>
                        <a:t>Train: 0.635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3 862 700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1.4 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3438361"/>
                  </a:ext>
                </a:extLst>
              </a:tr>
              <a:tr h="953455">
                <a:tc>
                  <a:txBody>
                    <a:bodyPr/>
                    <a:lstStyle/>
                    <a:p>
                      <a:pPr algn="ctr"/>
                      <a:r>
                        <a:rPr lang="fr-FR" dirty="0" err="1"/>
                        <a:t>Random</a:t>
                      </a:r>
                      <a:r>
                        <a:rPr lang="fr-FR" dirty="0"/>
                        <a:t> Forest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train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Test : </a:t>
                      </a:r>
                      <a:r>
                        <a:rPr lang="fr-FR" sz="1800" b="0" kern="1200" dirty="0">
                          <a:solidFill>
                            <a:schemeClr val="dk1"/>
                          </a:solidFill>
                          <a:effectLst/>
                        </a:rPr>
                        <a:t>0.660</a:t>
                      </a:r>
                      <a:endParaRPr lang="fr-FR" dirty="0"/>
                    </a:p>
                    <a:p>
                      <a:pPr algn="ctr"/>
                      <a:r>
                        <a:rPr lang="fr-FR" dirty="0"/>
                        <a:t>Train : </a:t>
                      </a:r>
                      <a:r>
                        <a:rPr lang="fr-FR" sz="1800" b="0" kern="1200" dirty="0">
                          <a:solidFill>
                            <a:schemeClr val="dk1"/>
                          </a:solidFill>
                          <a:effectLst/>
                        </a:rPr>
                        <a:t>0.688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Test : 0.617</a:t>
                      </a:r>
                    </a:p>
                    <a:p>
                      <a:pPr algn="ctr"/>
                      <a:r>
                        <a:rPr lang="fr-FR" dirty="0"/>
                        <a:t>Train : 0.651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3 878 400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13.2 min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171953"/>
                  </a:ext>
                </a:extLst>
              </a:tr>
              <a:tr h="953455">
                <a:tc>
                  <a:txBody>
                    <a:bodyPr/>
                    <a:lstStyle/>
                    <a:p>
                      <a:pPr algn="ctr"/>
                      <a:r>
                        <a:rPr lang="fr-FR" dirty="0" err="1"/>
                        <a:t>LightGBM</a:t>
                      </a:r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train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Test : 0.721</a:t>
                      </a:r>
                    </a:p>
                    <a:p>
                      <a:pPr algn="ctr"/>
                      <a:r>
                        <a:rPr lang="fr-FR" dirty="0"/>
                        <a:t>Train : 0.780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Test : 0.617</a:t>
                      </a:r>
                    </a:p>
                    <a:p>
                      <a:pPr algn="ctr"/>
                      <a:r>
                        <a:rPr lang="fr-FR" dirty="0"/>
                        <a:t>Train : 0.732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3 717 900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30 min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7512175"/>
                  </a:ext>
                </a:extLst>
              </a:tr>
              <a:tr h="953455">
                <a:tc>
                  <a:txBody>
                    <a:bodyPr/>
                    <a:lstStyle/>
                    <a:p>
                      <a:pPr algn="ctr"/>
                      <a:r>
                        <a:rPr lang="fr-FR" dirty="0" err="1"/>
                        <a:t>XGBoost</a:t>
                      </a:r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train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Test : 0.659</a:t>
                      </a:r>
                    </a:p>
                    <a:p>
                      <a:pPr algn="ctr"/>
                      <a:r>
                        <a:rPr lang="fr-FR" dirty="0"/>
                        <a:t>Train : 0.999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Test : 0.547</a:t>
                      </a:r>
                    </a:p>
                    <a:p>
                      <a:pPr algn="ctr"/>
                      <a:r>
                        <a:rPr lang="fr-FR" dirty="0"/>
                        <a:t>Train :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4 032 300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 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6896513"/>
                  </a:ext>
                </a:extLst>
              </a:tr>
            </a:tbl>
          </a:graphicData>
        </a:graphic>
      </p:graphicFrame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44F5375-8F2E-E990-F772-B0053C313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44680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2EFEC-B34A-D4BF-38B8-83DEBB213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C44D573-CB66-E3CC-172F-DD8C67C0E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459523"/>
          </a:xfrm>
        </p:spPr>
        <p:txBody>
          <a:bodyPr/>
          <a:lstStyle/>
          <a:p>
            <a:pPr algn="ctr"/>
            <a:r>
              <a:rPr lang="fr-FR" dirty="0"/>
              <a:t>Résultats </a:t>
            </a:r>
            <a:r>
              <a:rPr lang="fr-FR" dirty="0" err="1"/>
              <a:t>modèlisation</a:t>
            </a:r>
            <a:endParaRPr lang="fr-FR" dirty="0"/>
          </a:p>
        </p:txBody>
      </p:sp>
      <p:graphicFrame>
        <p:nvGraphicFramePr>
          <p:cNvPr id="5" name="Espace réservé du contenu 4">
            <a:extLst>
              <a:ext uri="{FF2B5EF4-FFF2-40B4-BE49-F238E27FC236}">
                <a16:creationId xmlns:a16="http://schemas.microsoft.com/office/drawing/2014/main" id="{0EE16CEC-2694-7925-73DB-6D2C5C2275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62675696"/>
              </p:ext>
            </p:extLst>
          </p:nvPr>
        </p:nvGraphicFramePr>
        <p:xfrm>
          <a:off x="435650" y="18200"/>
          <a:ext cx="11317524" cy="68216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886254">
                  <a:extLst>
                    <a:ext uri="{9D8B030D-6E8A-4147-A177-3AD203B41FA5}">
                      <a16:colId xmlns:a16="http://schemas.microsoft.com/office/drawing/2014/main" val="3313997651"/>
                    </a:ext>
                  </a:extLst>
                </a:gridCol>
                <a:gridCol w="1886254">
                  <a:extLst>
                    <a:ext uri="{9D8B030D-6E8A-4147-A177-3AD203B41FA5}">
                      <a16:colId xmlns:a16="http://schemas.microsoft.com/office/drawing/2014/main" val="2358897465"/>
                    </a:ext>
                  </a:extLst>
                </a:gridCol>
                <a:gridCol w="1886254">
                  <a:extLst>
                    <a:ext uri="{9D8B030D-6E8A-4147-A177-3AD203B41FA5}">
                      <a16:colId xmlns:a16="http://schemas.microsoft.com/office/drawing/2014/main" val="3910086793"/>
                    </a:ext>
                  </a:extLst>
                </a:gridCol>
                <a:gridCol w="1886254">
                  <a:extLst>
                    <a:ext uri="{9D8B030D-6E8A-4147-A177-3AD203B41FA5}">
                      <a16:colId xmlns:a16="http://schemas.microsoft.com/office/drawing/2014/main" val="755485514"/>
                    </a:ext>
                  </a:extLst>
                </a:gridCol>
                <a:gridCol w="1886254">
                  <a:extLst>
                    <a:ext uri="{9D8B030D-6E8A-4147-A177-3AD203B41FA5}">
                      <a16:colId xmlns:a16="http://schemas.microsoft.com/office/drawing/2014/main" val="525198606"/>
                    </a:ext>
                  </a:extLst>
                </a:gridCol>
                <a:gridCol w="1886254">
                  <a:extLst>
                    <a:ext uri="{9D8B030D-6E8A-4147-A177-3AD203B41FA5}">
                      <a16:colId xmlns:a16="http://schemas.microsoft.com/office/drawing/2014/main" val="4216190272"/>
                    </a:ext>
                  </a:extLst>
                </a:gridCol>
              </a:tblGrid>
              <a:tr h="740000">
                <a:tc>
                  <a:txBody>
                    <a:bodyPr/>
                    <a:lstStyle/>
                    <a:p>
                      <a:pPr algn="ctr"/>
                      <a:r>
                        <a:rPr lang="fr-FR"/>
                        <a:t>Modèle</a:t>
                      </a:r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/>
                        <a:t>Fichier</a:t>
                      </a:r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/>
                        <a:t>ROC AUC</a:t>
                      </a:r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/>
                        <a:t>Recall</a:t>
                      </a:r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/>
                        <a:t>Coût</a:t>
                      </a:r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/>
                        <a:t>Durée</a:t>
                      </a:r>
                      <a:endParaRPr lang="fr-F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8521772"/>
                  </a:ext>
                </a:extLst>
              </a:tr>
              <a:tr h="740000">
                <a:tc>
                  <a:txBody>
                    <a:bodyPr/>
                    <a:lstStyle/>
                    <a:p>
                      <a:pPr algn="ctr"/>
                      <a:r>
                        <a:rPr lang="fr-FR" dirty="0" err="1"/>
                        <a:t>LightGBM</a:t>
                      </a:r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/>
                        <a:t>train</a:t>
                      </a:r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Test : 0.705</a:t>
                      </a:r>
                    </a:p>
                    <a:p>
                      <a:pPr algn="ctr"/>
                      <a:r>
                        <a:rPr lang="fr-FR" dirty="0"/>
                        <a:t>Train : 0.780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Test : 0.617</a:t>
                      </a:r>
                    </a:p>
                    <a:p>
                      <a:pPr algn="ctr"/>
                      <a:r>
                        <a:rPr lang="fr-FR" dirty="0"/>
                        <a:t>Train: 0.732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3 717 900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30 min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3438361"/>
                  </a:ext>
                </a:extLst>
              </a:tr>
              <a:tr h="740000">
                <a:tc>
                  <a:txBody>
                    <a:bodyPr/>
                    <a:lstStyle/>
                    <a:p>
                      <a:pPr algn="ctr"/>
                      <a:r>
                        <a:rPr lang="fr-FR" dirty="0" err="1"/>
                        <a:t>LightGBM</a:t>
                      </a:r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train-</a:t>
                      </a:r>
                      <a:r>
                        <a:rPr lang="fr-FR" dirty="0" err="1"/>
                        <a:t>fe</a:t>
                      </a:r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Test : </a:t>
                      </a:r>
                      <a:r>
                        <a:rPr lang="fr-FR" sz="1800" b="0" kern="1200" dirty="0">
                          <a:solidFill>
                            <a:schemeClr val="dk1"/>
                          </a:solidFill>
                          <a:effectLst/>
                        </a:rPr>
                        <a:t>0.721</a:t>
                      </a:r>
                      <a:endParaRPr lang="fr-FR" dirty="0"/>
                    </a:p>
                    <a:p>
                      <a:pPr algn="ctr"/>
                      <a:r>
                        <a:rPr lang="fr-FR" dirty="0"/>
                        <a:t>Train : </a:t>
                      </a:r>
                      <a:r>
                        <a:rPr lang="fr-FR" sz="1800" b="0" kern="1200" dirty="0">
                          <a:solidFill>
                            <a:schemeClr val="dk1"/>
                          </a:solidFill>
                          <a:effectLst/>
                        </a:rPr>
                        <a:t>0.812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Test : 0.598</a:t>
                      </a:r>
                    </a:p>
                    <a:p>
                      <a:pPr algn="ctr"/>
                      <a:r>
                        <a:rPr lang="fr-FR" dirty="0"/>
                        <a:t>Train : 0.743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3 581 600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36 min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171953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algn="ctr"/>
                      <a:r>
                        <a:rPr lang="fr-FR"/>
                        <a:t>LightGBM</a:t>
                      </a:r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train-</a:t>
                      </a:r>
                      <a:r>
                        <a:rPr lang="fr-FR" dirty="0" err="1"/>
                        <a:t>fe</a:t>
                      </a:r>
                      <a:r>
                        <a:rPr lang="fr-FR" dirty="0"/>
                        <a:t>-b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Test : 0.748</a:t>
                      </a:r>
                    </a:p>
                    <a:p>
                      <a:pPr algn="ctr"/>
                      <a:r>
                        <a:rPr lang="fr-FR" dirty="0"/>
                        <a:t>Train : 0.821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Test : 0.660</a:t>
                      </a:r>
                    </a:p>
                    <a:p>
                      <a:pPr algn="ctr"/>
                      <a:r>
                        <a:rPr lang="fr-FR" dirty="0"/>
                        <a:t>Train : 0.770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3 334 500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 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7512175"/>
                  </a:ext>
                </a:extLst>
              </a:tr>
              <a:tr h="740000">
                <a:tc>
                  <a:txBody>
                    <a:bodyPr/>
                    <a:lstStyle/>
                    <a:p>
                      <a:pPr algn="ctr"/>
                      <a:r>
                        <a:rPr lang="fr-FR" dirty="0" err="1"/>
                        <a:t>LightGBM</a:t>
                      </a:r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train-</a:t>
                      </a:r>
                      <a:r>
                        <a:rPr lang="fr-FR" dirty="0" err="1"/>
                        <a:t>fe</a:t>
                      </a:r>
                      <a:r>
                        <a:rPr lang="fr-FR" dirty="0"/>
                        <a:t>-b-p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Test : 0.761</a:t>
                      </a:r>
                    </a:p>
                    <a:p>
                      <a:pPr algn="ctr"/>
                      <a:r>
                        <a:rPr lang="fr-FR" dirty="0"/>
                        <a:t>Train : 0.802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Test : 0.668</a:t>
                      </a:r>
                    </a:p>
                    <a:p>
                      <a:pPr algn="ctr"/>
                      <a:r>
                        <a:rPr lang="fr-FR" dirty="0"/>
                        <a:t>Train : 0.734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3 240 200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 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5816700"/>
                  </a:ext>
                </a:extLst>
              </a:tr>
              <a:tr h="741600">
                <a:tc>
                  <a:txBody>
                    <a:bodyPr/>
                    <a:lstStyle/>
                    <a:p>
                      <a:pPr algn="ctr"/>
                      <a:r>
                        <a:rPr lang="fr-FR" dirty="0" err="1"/>
                        <a:t>LightGBM</a:t>
                      </a:r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train-</a:t>
                      </a:r>
                      <a:r>
                        <a:rPr lang="fr-FR" dirty="0" err="1"/>
                        <a:t>fe</a:t>
                      </a:r>
                      <a:r>
                        <a:rPr lang="fr-FR" dirty="0"/>
                        <a:t>-b-p-pc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Test : 0.764</a:t>
                      </a:r>
                    </a:p>
                    <a:p>
                      <a:pPr algn="ctr"/>
                      <a:r>
                        <a:rPr lang="fr-FR" dirty="0"/>
                        <a:t>Train : 0.816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Test : 0.667</a:t>
                      </a:r>
                    </a:p>
                    <a:p>
                      <a:pPr algn="ctr"/>
                      <a:r>
                        <a:rPr lang="fr-FR" dirty="0"/>
                        <a:t>Train : 0.744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3 191 900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2.5 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9146312"/>
                  </a:ext>
                </a:extLst>
              </a:tr>
              <a:tr h="740000">
                <a:tc>
                  <a:txBody>
                    <a:bodyPr/>
                    <a:lstStyle/>
                    <a:p>
                      <a:pPr algn="ctr"/>
                      <a:r>
                        <a:rPr lang="fr-FR" dirty="0" err="1"/>
                        <a:t>LightGBM</a:t>
                      </a:r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train-</a:t>
                      </a:r>
                      <a:r>
                        <a:rPr lang="fr-FR" dirty="0" err="1"/>
                        <a:t>fe</a:t>
                      </a:r>
                      <a:r>
                        <a:rPr lang="fr-FR" dirty="0"/>
                        <a:t>-b-p-pc-i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Test : 0.770</a:t>
                      </a:r>
                    </a:p>
                    <a:p>
                      <a:pPr algn="ctr"/>
                      <a:r>
                        <a:rPr lang="fr-FR" dirty="0"/>
                        <a:t>Train : 0.849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Test : 0.665</a:t>
                      </a:r>
                    </a:p>
                    <a:p>
                      <a:pPr algn="ctr"/>
                      <a:r>
                        <a:rPr lang="fr-FR" dirty="0"/>
                        <a:t>Train : 0.795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3 153 100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2.7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5157400"/>
                  </a:ext>
                </a:extLst>
              </a:tr>
              <a:tr h="740000">
                <a:tc>
                  <a:txBody>
                    <a:bodyPr/>
                    <a:lstStyle/>
                    <a:p>
                      <a:pPr algn="ctr"/>
                      <a:r>
                        <a:rPr lang="fr-FR" dirty="0" err="1"/>
                        <a:t>LightGBM</a:t>
                      </a:r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train-</a:t>
                      </a:r>
                      <a:r>
                        <a:rPr lang="fr-FR" dirty="0" err="1"/>
                        <a:t>fe</a:t>
                      </a:r>
                      <a:r>
                        <a:rPr lang="fr-FR" dirty="0"/>
                        <a:t>-b-p-pc-i-</a:t>
                      </a:r>
                      <a:r>
                        <a:rPr lang="fr-FR" dirty="0" err="1"/>
                        <a:t>ccb</a:t>
                      </a:r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Test : 0.769</a:t>
                      </a:r>
                    </a:p>
                    <a:p>
                      <a:pPr algn="ctr"/>
                      <a:r>
                        <a:rPr lang="fr-FR" dirty="0"/>
                        <a:t>Train : 0.821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Test : 0.667</a:t>
                      </a:r>
                    </a:p>
                    <a:p>
                      <a:pPr algn="ctr"/>
                      <a:r>
                        <a:rPr lang="fr-FR" dirty="0"/>
                        <a:t>Train : 0.751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3 148 800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3.3 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6896513"/>
                  </a:ext>
                </a:extLst>
              </a:tr>
              <a:tr h="740000">
                <a:tc>
                  <a:txBody>
                    <a:bodyPr/>
                    <a:lstStyle/>
                    <a:p>
                      <a:pPr algn="ctr"/>
                      <a:r>
                        <a:rPr lang="fr-FR" dirty="0" err="1"/>
                        <a:t>LightGBM</a:t>
                      </a:r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err="1"/>
                        <a:t>selected_feature</a:t>
                      </a:r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Test : 0.767</a:t>
                      </a:r>
                    </a:p>
                    <a:p>
                      <a:pPr algn="ctr"/>
                      <a:r>
                        <a:rPr lang="fr-FR" dirty="0"/>
                        <a:t>Train : 0.807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Test : 0.672</a:t>
                      </a:r>
                    </a:p>
                    <a:p>
                      <a:pPr algn="ctr"/>
                      <a:r>
                        <a:rPr lang="fr-FR" dirty="0"/>
                        <a:t>Train : 0.738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3 192 600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50 min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2709973"/>
                  </a:ext>
                </a:extLst>
              </a:tr>
            </a:tbl>
          </a:graphicData>
        </a:graphic>
      </p:graphicFrame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772588B-D888-F1D5-1CB2-D2E378148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7745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E8310-BE44-029A-16B4-259BE2A8A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99E9116-FA42-26EE-747D-45C07663A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459523"/>
          </a:xfrm>
        </p:spPr>
        <p:txBody>
          <a:bodyPr/>
          <a:lstStyle/>
          <a:p>
            <a:pPr algn="ctr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BADEDF3-DF6E-0D6A-6B69-B68BFB76B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16</a:t>
            </a:fld>
            <a:endParaRPr lang="en-US" dirty="0"/>
          </a:p>
        </p:txBody>
      </p:sp>
      <p:pic>
        <p:nvPicPr>
          <p:cNvPr id="8" name="Espace réservé du contenu 7">
            <a:extLst>
              <a:ext uri="{FF2B5EF4-FFF2-40B4-BE49-F238E27FC236}">
                <a16:creationId xmlns:a16="http://schemas.microsoft.com/office/drawing/2014/main" id="{6DE93403-859A-17DE-6EC6-5C418300EE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56251" y="0"/>
            <a:ext cx="10276321" cy="6850881"/>
          </a:xfrm>
        </p:spPr>
      </p:pic>
    </p:spTree>
    <p:extLst>
      <p:ext uri="{BB962C8B-B14F-4D97-AF65-F5344CB8AC3E}">
        <p14:creationId xmlns:p14="http://schemas.microsoft.com/office/powerpoint/2010/main" val="20379956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3C873-6EB4-C39F-C0B8-61806B875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8FBC86D-A2D5-484F-E026-F03B57F4B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459523"/>
          </a:xfrm>
        </p:spPr>
        <p:txBody>
          <a:bodyPr/>
          <a:lstStyle/>
          <a:p>
            <a:pPr algn="ctr"/>
            <a:r>
              <a:rPr lang="fr-FR" dirty="0" err="1"/>
              <a:t>Feature</a:t>
            </a:r>
            <a:r>
              <a:rPr lang="fr-FR" dirty="0"/>
              <a:t> importance globale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69938C2-CBD3-21B7-DF7E-E804CFD68E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459522"/>
            <a:ext cx="9905999" cy="5192737"/>
          </a:xfrm>
        </p:spPr>
        <p:txBody>
          <a:bodyPr>
            <a:normAutofit/>
          </a:bodyPr>
          <a:lstStyle/>
          <a:p>
            <a:endParaRPr lang="fr-FR" dirty="0"/>
          </a:p>
          <a:p>
            <a:r>
              <a:rPr lang="fr-FR" dirty="0"/>
              <a:t>Influence des variables sur les prédictions d’un modèle ML</a:t>
            </a:r>
          </a:p>
          <a:p>
            <a:endParaRPr lang="fr-FR" dirty="0"/>
          </a:p>
          <a:p>
            <a:r>
              <a:rPr lang="fr-FR" dirty="0"/>
              <a:t>SHAP (Shapley Additive </a:t>
            </a:r>
            <a:r>
              <a:rPr lang="fr-FR" dirty="0" err="1"/>
              <a:t>exPlanation</a:t>
            </a:r>
            <a:r>
              <a:rPr lang="fr-FR" dirty="0"/>
              <a:t>)</a:t>
            </a:r>
          </a:p>
          <a:p>
            <a:endParaRPr lang="fr-FR" dirty="0"/>
          </a:p>
          <a:p>
            <a:r>
              <a:rPr lang="fr-FR" dirty="0" err="1"/>
              <a:t>Feature</a:t>
            </a:r>
            <a:r>
              <a:rPr lang="fr-FR" dirty="0"/>
              <a:t> </a:t>
            </a:r>
            <a:r>
              <a:rPr lang="fr-FR" dirty="0" err="1"/>
              <a:t>selection</a:t>
            </a:r>
            <a:endParaRPr lang="fr-FR" dirty="0"/>
          </a:p>
          <a:p>
            <a:pPr marL="0" indent="0">
              <a:buNone/>
            </a:pP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A77B467-6E2D-4880-79F3-253209622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8897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5E612-6F16-B623-524C-43E60F491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4B3832-BEC6-4815-88E5-77A9ABAFE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459523"/>
          </a:xfrm>
        </p:spPr>
        <p:txBody>
          <a:bodyPr/>
          <a:lstStyle/>
          <a:p>
            <a:pPr algn="ctr"/>
            <a:endParaRPr lang="fr-FR" dirty="0"/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DE034E75-3DF9-CBE2-EC7C-9C82F5475D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401320"/>
            <a:ext cx="12196410" cy="6055360"/>
          </a:xfr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0FB1BB8-7EDA-8A09-2811-CF42EFC15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6228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D1AAB-432B-78B7-51BD-9F56DF0F6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0E493C-FAF0-BCD2-83C6-EBAAA2AA9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459523"/>
          </a:xfrm>
        </p:spPr>
        <p:txBody>
          <a:bodyPr/>
          <a:lstStyle/>
          <a:p>
            <a:pPr algn="ctr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9E739A3-2BB0-E5DB-F579-23746F4C1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19</a:t>
            </a:fld>
            <a:endParaRPr lang="en-US" dirty="0"/>
          </a:p>
        </p:txBody>
      </p:sp>
      <p:pic>
        <p:nvPicPr>
          <p:cNvPr id="8" name="Espace réservé du contenu 7">
            <a:extLst>
              <a:ext uri="{FF2B5EF4-FFF2-40B4-BE49-F238E27FC236}">
                <a16:creationId xmlns:a16="http://schemas.microsoft.com/office/drawing/2014/main" id="{D27DD93C-260B-D8E9-3115-AAC774C569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053" y="411480"/>
            <a:ext cx="12183947" cy="6035040"/>
          </a:xfrm>
        </p:spPr>
      </p:pic>
    </p:spTree>
    <p:extLst>
      <p:ext uri="{BB962C8B-B14F-4D97-AF65-F5344CB8AC3E}">
        <p14:creationId xmlns:p14="http://schemas.microsoft.com/office/powerpoint/2010/main" val="26732159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F6CBE-D4D6-971B-38E7-9BDDE4E6D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85F4526-A0C5-5F7D-59C6-E43CC21A4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459523"/>
          </a:xfrm>
        </p:spPr>
        <p:txBody>
          <a:bodyPr/>
          <a:lstStyle/>
          <a:p>
            <a:pPr algn="ctr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74468B6-5AFD-1D26-07BE-E7359CBA4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20</a:t>
            </a:fld>
            <a:endParaRPr lang="en-US" dirty="0"/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9B4C4E29-A8ED-4770-B72F-492F90A0A4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-1588" y="280761"/>
            <a:ext cx="12192000" cy="6296478"/>
          </a:xfrm>
        </p:spPr>
      </p:pic>
    </p:spTree>
    <p:extLst>
      <p:ext uri="{BB962C8B-B14F-4D97-AF65-F5344CB8AC3E}">
        <p14:creationId xmlns:p14="http://schemas.microsoft.com/office/powerpoint/2010/main" val="8514550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4DECC-9DA9-2E91-2405-C7E015FAE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511376-6547-7A6D-EB48-B6D66EC11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459523"/>
          </a:xfrm>
        </p:spPr>
        <p:txBody>
          <a:bodyPr/>
          <a:lstStyle/>
          <a:p>
            <a:pPr algn="ctr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CB8E453-597C-6FD1-5009-21485F3B3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21</a:t>
            </a:fld>
            <a:endParaRPr lang="en-US" dirty="0"/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83673B9C-D56E-097D-F41F-D294FA96C3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539" y="1437640"/>
            <a:ext cx="12175745" cy="3982720"/>
          </a:xfrm>
        </p:spPr>
      </p:pic>
    </p:spTree>
    <p:extLst>
      <p:ext uri="{BB962C8B-B14F-4D97-AF65-F5344CB8AC3E}">
        <p14:creationId xmlns:p14="http://schemas.microsoft.com/office/powerpoint/2010/main" val="36275989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A1E00-CEB8-4ED0-66DC-D4DA5FA51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9F6B34-38DA-0B56-7A6D-1D07BA09F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459523"/>
          </a:xfrm>
        </p:spPr>
        <p:txBody>
          <a:bodyPr/>
          <a:lstStyle/>
          <a:p>
            <a:pPr algn="ctr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ADEAD98-DD86-8DAA-B2B2-E4A6F625E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22</a:t>
            </a:fld>
            <a:endParaRPr lang="en-US" dirty="0"/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CF7D2F23-8495-D3C0-845F-FA6837B880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694" y="416560"/>
            <a:ext cx="12163436" cy="6024880"/>
          </a:xfrm>
        </p:spPr>
      </p:pic>
    </p:spTree>
    <p:extLst>
      <p:ext uri="{BB962C8B-B14F-4D97-AF65-F5344CB8AC3E}">
        <p14:creationId xmlns:p14="http://schemas.microsoft.com/office/powerpoint/2010/main" val="31554019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B9AAC-D228-3B2C-4AC7-7858CFC74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1A1F37-4487-96B4-EBA8-119F9A9B2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459523"/>
          </a:xfrm>
        </p:spPr>
        <p:txBody>
          <a:bodyPr/>
          <a:lstStyle/>
          <a:p>
            <a:pPr algn="ctr"/>
            <a:r>
              <a:rPr lang="fr-FR" dirty="0" err="1"/>
              <a:t>Feature</a:t>
            </a:r>
            <a:r>
              <a:rPr lang="fr-FR" dirty="0"/>
              <a:t> importance locale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528CB85-A06B-DF4C-B738-CB1ACAF76C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459522"/>
            <a:ext cx="9905999" cy="5192737"/>
          </a:xfrm>
        </p:spPr>
        <p:txBody>
          <a:bodyPr>
            <a:normAutofit/>
          </a:bodyPr>
          <a:lstStyle/>
          <a:p>
            <a:r>
              <a:rPr lang="fr-FR" dirty="0"/>
              <a:t>Pourquoi le modèle à pris cette décision pour CET exemple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4963A48-C2DA-77CA-DE07-D0A758F3C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23</a:t>
            </a:fld>
            <a:endParaRPr lang="en-US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FFAE62E4-2E62-BB5E-C9FF-9F2A57B741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9051" y="0"/>
            <a:ext cx="9570720" cy="6800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6783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E54AF-BC40-3899-99B0-20BB41503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F1E2B33-EE35-8F8C-96B8-85927C280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459523"/>
          </a:xfrm>
        </p:spPr>
        <p:txBody>
          <a:bodyPr/>
          <a:lstStyle/>
          <a:p>
            <a:pPr algn="ctr"/>
            <a:r>
              <a:rPr lang="fr-FR" dirty="0"/>
              <a:t>Data drift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28F5761-2647-6671-95CC-F9E7EF87A9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459522"/>
            <a:ext cx="9905999" cy="5192737"/>
          </a:xfrm>
        </p:spPr>
        <p:txBody>
          <a:bodyPr>
            <a:normAutofit/>
          </a:bodyPr>
          <a:lstStyle/>
          <a:p>
            <a:endParaRPr lang="fr-FR" dirty="0"/>
          </a:p>
          <a:p>
            <a:r>
              <a:rPr lang="fr-FR" dirty="0"/>
              <a:t>Surveillance des distributions</a:t>
            </a:r>
          </a:p>
          <a:p>
            <a:endParaRPr lang="fr-FR" dirty="0"/>
          </a:p>
          <a:p>
            <a:r>
              <a:rPr lang="fr-FR" dirty="0" err="1"/>
              <a:t>Evidently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0E906A8-1577-1139-3DF9-A34AD3A9A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10204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668822-4EFB-8781-8EDC-47A3AABC6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44C9EA4-91E3-4755-CA64-C3F2D4D7B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459523"/>
          </a:xfrm>
        </p:spPr>
        <p:txBody>
          <a:bodyPr/>
          <a:lstStyle/>
          <a:p>
            <a:pPr algn="ctr"/>
            <a:r>
              <a:rPr lang="fr-FR" dirty="0"/>
              <a:t>Data drift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663E156-B821-356E-DAB1-6E3AA4C57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459522"/>
            <a:ext cx="9905999" cy="5192737"/>
          </a:xfrm>
        </p:spPr>
        <p:txBody>
          <a:bodyPr>
            <a:normAutofit/>
          </a:bodyPr>
          <a:lstStyle/>
          <a:p>
            <a:endParaRPr lang="fr-FR" dirty="0"/>
          </a:p>
          <a:p>
            <a:r>
              <a:rPr lang="fr-FR" dirty="0"/>
              <a:t>Surveillance des distributions</a:t>
            </a:r>
          </a:p>
          <a:p>
            <a:endParaRPr lang="fr-FR" dirty="0"/>
          </a:p>
          <a:p>
            <a:r>
              <a:rPr lang="fr-FR" dirty="0" err="1"/>
              <a:t>Evidently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7536468-B30B-6C9A-2D23-877C12D1B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25</a:t>
            </a:fld>
            <a:endParaRPr lang="en-US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4859BFCF-3373-B270-6864-CE47DE6354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800"/>
            <a:ext cx="12200047" cy="675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4229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DDF84-F0A1-179F-8172-C72C914CE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6486A59-F1E0-D6EF-41F3-C8DD3EB38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459523"/>
          </a:xfrm>
        </p:spPr>
        <p:txBody>
          <a:bodyPr/>
          <a:lstStyle/>
          <a:p>
            <a:pPr algn="ctr"/>
            <a:r>
              <a:rPr lang="fr-FR" dirty="0"/>
              <a:t>Pipeline de déploiement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307F48E-92CF-600D-62D5-A09A87E216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459522"/>
            <a:ext cx="9905999" cy="5192737"/>
          </a:xfrm>
        </p:spPr>
        <p:txBody>
          <a:bodyPr>
            <a:normAutofit/>
          </a:bodyPr>
          <a:lstStyle/>
          <a:p>
            <a:endParaRPr lang="fr-FR" dirty="0"/>
          </a:p>
          <a:p>
            <a:r>
              <a:rPr lang="fr-FR" dirty="0"/>
              <a:t>Gestion de code : Git &amp; GitHub, </a:t>
            </a:r>
            <a:r>
              <a:rPr lang="fr-FR" dirty="0" err="1"/>
              <a:t>pre</a:t>
            </a:r>
            <a:r>
              <a:rPr lang="fr-FR" dirty="0"/>
              <a:t>-commit</a:t>
            </a:r>
          </a:p>
          <a:p>
            <a:endParaRPr lang="fr-FR" dirty="0"/>
          </a:p>
          <a:p>
            <a:r>
              <a:rPr lang="fr-FR" dirty="0"/>
              <a:t>Tests unitaires &amp; CI/CD</a:t>
            </a:r>
          </a:p>
          <a:p>
            <a:endParaRPr lang="fr-FR" dirty="0"/>
          </a:p>
          <a:p>
            <a:r>
              <a:rPr lang="fr-FR" dirty="0"/>
              <a:t>Déploiement API dans le cloud (via AWS)</a:t>
            </a:r>
          </a:p>
          <a:p>
            <a:pPr marL="0" indent="0">
              <a:buNone/>
            </a:pP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E3C9C28-9C97-A105-D39C-E44A57F44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119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9A400A8-F05E-85DC-8F4E-9B1994E18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Merci de votre attention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766D2B5-F2E2-3369-B48D-58096220B0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endParaRPr lang="fr-FR" dirty="0"/>
          </a:p>
          <a:p>
            <a:pPr marL="0" indent="0" algn="ctr">
              <a:buNone/>
            </a:pPr>
            <a:r>
              <a:rPr lang="fr-FR" dirty="0"/>
              <a:t>Avez-vous des questions ?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23D89DA-ED91-4C76-3E35-971347D0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342372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35810</TotalTime>
  <Words>556</Words>
  <Application>Microsoft Macintosh PowerPoint</Application>
  <PresentationFormat>Grand écran</PresentationFormat>
  <Paragraphs>248</Paragraphs>
  <Slides>27</Slides>
  <Notes>27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27</vt:i4>
      </vt:variant>
    </vt:vector>
  </HeadingPairs>
  <TitlesOfParts>
    <vt:vector size="31" baseType="lpstr">
      <vt:lpstr>Arial</vt:lpstr>
      <vt:lpstr>Calibri</vt:lpstr>
      <vt:lpstr>Tw Cen MT</vt:lpstr>
      <vt:lpstr>Circuit</vt:lpstr>
      <vt:lpstr>Implémenter un modèle de scoring</vt:lpstr>
      <vt:lpstr>Contexte</vt:lpstr>
      <vt:lpstr>Autres Missions</vt:lpstr>
      <vt:lpstr>Jeu de données</vt:lpstr>
      <vt:lpstr>Jeu de données</vt:lpstr>
      <vt:lpstr>Modèlisation</vt:lpstr>
      <vt:lpstr>Modèlisation</vt:lpstr>
      <vt:lpstr>MLOPS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Résultats modèlisation</vt:lpstr>
      <vt:lpstr>Résultats modèlisation</vt:lpstr>
      <vt:lpstr>Présentation PowerPoint</vt:lpstr>
      <vt:lpstr>Feature importance globale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Feature importance locale</vt:lpstr>
      <vt:lpstr>Data drift</vt:lpstr>
      <vt:lpstr>Data drift</vt:lpstr>
      <vt:lpstr>Pipeline de déploiement</vt:lpstr>
      <vt:lpstr>Merci de votre attention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Jérémy Bochard</dc:creator>
  <cp:lastModifiedBy>Jérémy Bochard</cp:lastModifiedBy>
  <cp:revision>24</cp:revision>
  <dcterms:created xsi:type="dcterms:W3CDTF">2024-07-28T12:06:57Z</dcterms:created>
  <dcterms:modified xsi:type="dcterms:W3CDTF">2025-06-15T22:31:38Z</dcterms:modified>
</cp:coreProperties>
</file>